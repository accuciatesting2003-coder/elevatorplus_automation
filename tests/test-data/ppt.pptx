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6e9b58e8a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6e9b58e8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7153fe3092_0_6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7153fe309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7153fe3092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7153fe30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153fe3092_0_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153fe309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6e9b58e8a4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6e9b58e8a4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3de5a7bc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3de5a7bc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e9b58e8a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6e9b58e8a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174c77b5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174c77b5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e9b58e8a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e9b58e8a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1f1eb65f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71f1eb65f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3de5a7bc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3de5a7bc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3de5a7bc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3de5a7bc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e9b58e8a4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6e9b58e8a4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e9b58e8a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e9b58e8a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73e4427b1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73e4427b1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73e4427b1d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73e4427b1d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e9b58e8a4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6e9b58e8a4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73e4427b1d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73e4427b1d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73e4427b1d_3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73e4427b1d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3e4427b1d_3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73e4427b1d_3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73e4427b1d_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73e4427b1d_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6e9b58e8a4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6e9b58e8a4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717326d2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717326d2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717326d2a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717326d2a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17326d2a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717326d2a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17326d2a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717326d2a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17326d2a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17326d2a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73de5a7bc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73de5a7bc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3de5a7bc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73de5a7bc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703500" y="2320050"/>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Elevator Plus New Features </a:t>
            </a:r>
            <a:endParaRPr/>
          </a:p>
        </p:txBody>
      </p:sp>
      <p:sp>
        <p:nvSpPr>
          <p:cNvPr id="68" name="Google Shape;68;p13"/>
          <p:cNvSpPr txBox="1"/>
          <p:nvPr>
            <p:ph idx="1" type="subTitle"/>
          </p:nvPr>
        </p:nvSpPr>
        <p:spPr>
          <a:xfrm>
            <a:off x="460950" y="2752883"/>
            <a:ext cx="8222100" cy="184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br>
              <a:rPr lang="en"/>
            </a:br>
            <a:endParaRPr/>
          </a:p>
        </p:txBody>
      </p:sp>
      <p:pic>
        <p:nvPicPr>
          <p:cNvPr id="69" name="Google Shape;69;p13" title="E+_Logo_withBg (2).png"/>
          <p:cNvPicPr preferRelativeResize="0"/>
          <p:nvPr/>
        </p:nvPicPr>
        <p:blipFill>
          <a:blip r:embed="rId3">
            <a:alphaModFix/>
          </a:blip>
          <a:stretch>
            <a:fillRect/>
          </a:stretch>
        </p:blipFill>
        <p:spPr>
          <a:xfrm>
            <a:off x="3053950" y="683125"/>
            <a:ext cx="3268274" cy="14332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265500" y="1718250"/>
            <a:ext cx="4158000" cy="113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100"/>
              <a:t>New Features  </a:t>
            </a:r>
            <a:endParaRPr sz="4100"/>
          </a:p>
        </p:txBody>
      </p:sp>
      <p:sp>
        <p:nvSpPr>
          <p:cNvPr id="75" name="Google Shape;75;p14"/>
          <p:cNvSpPr txBox="1"/>
          <p:nvPr>
            <p:ph idx="2" type="body"/>
          </p:nvPr>
        </p:nvSpPr>
        <p:spPr>
          <a:xfrm>
            <a:off x="4572000" y="0"/>
            <a:ext cx="4572000" cy="5040600"/>
          </a:xfrm>
          <a:prstGeom prst="rect">
            <a:avLst/>
          </a:prstGeom>
        </p:spPr>
        <p:txBody>
          <a:bodyPr anchorCtr="0" anchor="ctr" bIns="91425" lIns="91425" spcFirstLastPara="1" rIns="91425" wrap="square" tIns="91425">
            <a:normAutofit/>
          </a:bodyPr>
          <a:lstStyle/>
          <a:p>
            <a:pPr indent="0" lvl="0" marL="0" rtl="0" algn="l">
              <a:lnSpc>
                <a:spcPct val="100000"/>
              </a:lnSpc>
              <a:spcBef>
                <a:spcPts val="1400"/>
              </a:spcBef>
              <a:spcAft>
                <a:spcPts val="0"/>
              </a:spcAft>
              <a:buNone/>
            </a:pPr>
            <a:r>
              <a:t/>
            </a:r>
            <a:endParaRPr sz="1600"/>
          </a:p>
          <a:p>
            <a:pPr indent="-336550" lvl="0" marL="457200" rtl="0" algn="l">
              <a:lnSpc>
                <a:spcPct val="100000"/>
              </a:lnSpc>
              <a:spcBef>
                <a:spcPts val="1000"/>
              </a:spcBef>
              <a:spcAft>
                <a:spcPts val="0"/>
              </a:spcAft>
              <a:buSzPts val="1700"/>
              <a:buChar char="●"/>
            </a:pPr>
            <a:r>
              <a:rPr lang="en" sz="1700"/>
              <a:t>Key Additions in PDF Setting</a:t>
            </a:r>
            <a:endParaRPr sz="1700"/>
          </a:p>
          <a:p>
            <a:pPr indent="-336550" lvl="0" marL="457200" rtl="0" algn="l">
              <a:lnSpc>
                <a:spcPct val="100000"/>
              </a:lnSpc>
              <a:spcBef>
                <a:spcPts val="1000"/>
              </a:spcBef>
              <a:spcAft>
                <a:spcPts val="0"/>
              </a:spcAft>
              <a:buSzPts val="1700"/>
              <a:buChar char="●"/>
            </a:pPr>
            <a:r>
              <a:rPr lang="en" sz="1700"/>
              <a:t>Create PO for PM and Other</a:t>
            </a:r>
            <a:endParaRPr sz="1700"/>
          </a:p>
          <a:p>
            <a:pPr indent="-336550" lvl="0" marL="457200" rtl="0" algn="l">
              <a:lnSpc>
                <a:spcPct val="100000"/>
              </a:lnSpc>
              <a:spcBef>
                <a:spcPts val="1000"/>
              </a:spcBef>
              <a:spcAft>
                <a:spcPts val="0"/>
              </a:spcAft>
              <a:buSzPts val="1700"/>
              <a:buChar char="●"/>
            </a:pPr>
            <a:r>
              <a:rPr lang="en" sz="1700"/>
              <a:t>Reacquisition</a:t>
            </a:r>
            <a:r>
              <a:rPr lang="en" sz="1700"/>
              <a:t> Of Surplus and damaged inventory  </a:t>
            </a:r>
            <a:endParaRPr sz="1700"/>
          </a:p>
          <a:p>
            <a:pPr indent="-336550" lvl="0" marL="457200" rtl="0" algn="l">
              <a:lnSpc>
                <a:spcPct val="100000"/>
              </a:lnSpc>
              <a:spcBef>
                <a:spcPts val="1000"/>
              </a:spcBef>
              <a:spcAft>
                <a:spcPts val="0"/>
              </a:spcAft>
              <a:buSzPts val="1700"/>
              <a:buChar char="●"/>
            </a:pPr>
            <a:r>
              <a:rPr lang="en" sz="1700"/>
              <a:t>HSN Code in Document of DC, Repair Order - added in tables and pdf </a:t>
            </a:r>
            <a:endParaRPr sz="1700"/>
          </a:p>
          <a:p>
            <a:pPr indent="-336550" lvl="0" marL="457200" rtl="0" algn="l">
              <a:spcBef>
                <a:spcPts val="1000"/>
              </a:spcBef>
              <a:spcAft>
                <a:spcPts val="0"/>
              </a:spcAft>
              <a:buSzPts val="1700"/>
              <a:buChar char="●"/>
            </a:pPr>
            <a:r>
              <a:rPr lang="en" sz="1700"/>
              <a:t>BOM Planning</a:t>
            </a:r>
            <a:endParaRPr sz="1700"/>
          </a:p>
          <a:p>
            <a:pPr indent="-336550" lvl="0" marL="457200" rtl="0" algn="l">
              <a:spcBef>
                <a:spcPts val="0"/>
              </a:spcBef>
              <a:spcAft>
                <a:spcPts val="0"/>
              </a:spcAft>
              <a:buSzPts val="1700"/>
              <a:buChar char="●"/>
            </a:pPr>
            <a:r>
              <a:rPr lang="en" sz="1700"/>
              <a:t>Upload BOM </a:t>
            </a:r>
            <a:endParaRPr sz="1700"/>
          </a:p>
          <a:p>
            <a:pPr indent="-336550" lvl="0" marL="457200" rtl="0" algn="l">
              <a:spcBef>
                <a:spcPts val="0"/>
              </a:spcBef>
              <a:spcAft>
                <a:spcPts val="0"/>
              </a:spcAft>
              <a:buSzPts val="1700"/>
              <a:buChar char="●"/>
            </a:pPr>
            <a:r>
              <a:rPr lang="en" sz="1700"/>
              <a:t>Create DC from BOM and Dispatch against BOM </a:t>
            </a:r>
            <a:endParaRPr sz="1700"/>
          </a:p>
          <a:p>
            <a:pPr indent="0" lvl="0" marL="457200" rtl="0" algn="l">
              <a:spcBef>
                <a:spcPts val="1200"/>
              </a:spcBef>
              <a:spcAft>
                <a:spcPts val="1200"/>
              </a:spcAft>
              <a:buNone/>
            </a:pPr>
            <a:r>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265500" y="1718250"/>
            <a:ext cx="4158000" cy="113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100"/>
              <a:t>New Features  </a:t>
            </a:r>
            <a:endParaRPr sz="4100"/>
          </a:p>
        </p:txBody>
      </p:sp>
      <p:sp>
        <p:nvSpPr>
          <p:cNvPr id="81" name="Google Shape;81;p15"/>
          <p:cNvSpPr txBox="1"/>
          <p:nvPr>
            <p:ph idx="2" type="body"/>
          </p:nvPr>
        </p:nvSpPr>
        <p:spPr>
          <a:xfrm>
            <a:off x="4572000" y="0"/>
            <a:ext cx="4572000" cy="5040600"/>
          </a:xfrm>
          <a:prstGeom prst="rect">
            <a:avLst/>
          </a:prstGeom>
        </p:spPr>
        <p:txBody>
          <a:bodyPr anchorCtr="0" anchor="ctr" bIns="91425" lIns="91425" spcFirstLastPara="1" rIns="91425" wrap="square" tIns="91425">
            <a:normAutofit/>
          </a:bodyPr>
          <a:lstStyle/>
          <a:p>
            <a:pPr indent="-336550" lvl="0" marL="457200" rtl="0" algn="l">
              <a:spcBef>
                <a:spcPts val="0"/>
              </a:spcBef>
              <a:spcAft>
                <a:spcPts val="0"/>
              </a:spcAft>
              <a:buSzPts val="1700"/>
              <a:buChar char="●"/>
            </a:pPr>
            <a:r>
              <a:rPr lang="en" sz="1700"/>
              <a:t>Monthly date range filter in Monthly Attendance Report </a:t>
            </a:r>
            <a:endParaRPr sz="1700"/>
          </a:p>
          <a:p>
            <a:pPr indent="-336550" lvl="0" marL="457200" rtl="0" algn="l">
              <a:spcBef>
                <a:spcPts val="0"/>
              </a:spcBef>
              <a:spcAft>
                <a:spcPts val="0"/>
              </a:spcAft>
              <a:buSzPts val="1700"/>
              <a:buChar char="●"/>
            </a:pPr>
            <a:r>
              <a:rPr lang="en" sz="1700"/>
              <a:t>New Searches added.</a:t>
            </a:r>
            <a:endParaRPr sz="1700"/>
          </a:p>
          <a:p>
            <a:pPr indent="-336550" lvl="0" marL="457200" rtl="0" algn="l">
              <a:lnSpc>
                <a:spcPct val="100000"/>
              </a:lnSpc>
              <a:spcBef>
                <a:spcPts val="0"/>
              </a:spcBef>
              <a:spcAft>
                <a:spcPts val="0"/>
              </a:spcAft>
              <a:buSzPts val="1700"/>
              <a:buChar char="●"/>
            </a:pPr>
            <a:r>
              <a:rPr lang="en" sz="1700"/>
              <a:t>In Application and web app - in job section added filter of Installation User Type( Sales ) </a:t>
            </a:r>
            <a:endParaRPr sz="1700"/>
          </a:p>
          <a:p>
            <a:pPr indent="-336550" lvl="0" marL="457200" rtl="0" algn="l">
              <a:lnSpc>
                <a:spcPct val="100000"/>
              </a:lnSpc>
              <a:spcBef>
                <a:spcPts val="1000"/>
              </a:spcBef>
              <a:spcAft>
                <a:spcPts val="0"/>
              </a:spcAft>
              <a:buSzPts val="1700"/>
              <a:buChar char="●"/>
            </a:pPr>
            <a:r>
              <a:rPr lang="en" sz="1700"/>
              <a:t>In Application Mark In / Mark Out Functionality -Geo-restriction Rule  </a:t>
            </a:r>
            <a:endParaRPr sz="1700"/>
          </a:p>
          <a:p>
            <a:pPr indent="-336550" lvl="0" marL="457200" rtl="0" algn="l">
              <a:spcBef>
                <a:spcPts val="1000"/>
              </a:spcBef>
              <a:spcAft>
                <a:spcPts val="0"/>
              </a:spcAft>
              <a:buSzPts val="1700"/>
              <a:buChar char="●"/>
            </a:pPr>
            <a:r>
              <a:rPr lang="en" sz="1700"/>
              <a:t>Rename of Multiple Fields</a:t>
            </a:r>
            <a:endParaRPr sz="1700"/>
          </a:p>
          <a:p>
            <a:pPr indent="0" lvl="0" marL="0" rtl="0" algn="l">
              <a:lnSpc>
                <a:spcPct val="100000"/>
              </a:lnSpc>
              <a:spcBef>
                <a:spcPts val="1200"/>
              </a:spcBef>
              <a:spcAft>
                <a:spcPts val="1000"/>
              </a:spcAft>
              <a:buNone/>
            </a:pPr>
            <a:r>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265500" y="1718250"/>
            <a:ext cx="4158000" cy="113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100"/>
              <a:t>New Features  </a:t>
            </a:r>
            <a:endParaRPr sz="4100"/>
          </a:p>
        </p:txBody>
      </p:sp>
      <p:sp>
        <p:nvSpPr>
          <p:cNvPr id="87" name="Google Shape;87;p16"/>
          <p:cNvSpPr txBox="1"/>
          <p:nvPr>
            <p:ph idx="2" type="body"/>
          </p:nvPr>
        </p:nvSpPr>
        <p:spPr>
          <a:xfrm>
            <a:off x="4572000" y="0"/>
            <a:ext cx="4572000" cy="5040600"/>
          </a:xfrm>
          <a:prstGeom prst="rect">
            <a:avLst/>
          </a:prstGeom>
        </p:spPr>
        <p:txBody>
          <a:bodyPr anchorCtr="0" anchor="ctr" bIns="91425" lIns="91425" spcFirstLastPara="1" rIns="91425" wrap="square" tIns="91425">
            <a:normAutofit/>
          </a:bodyPr>
          <a:lstStyle/>
          <a:p>
            <a:pPr indent="-336550" lvl="0" marL="457200" rtl="0" algn="l">
              <a:lnSpc>
                <a:spcPct val="100000"/>
              </a:lnSpc>
              <a:spcBef>
                <a:spcPts val="0"/>
              </a:spcBef>
              <a:spcAft>
                <a:spcPts val="0"/>
              </a:spcAft>
              <a:buSzPts val="1700"/>
              <a:buChar char="●"/>
            </a:pPr>
            <a:r>
              <a:rPr lang="en" sz="1700"/>
              <a:t>Provided image support for metafield </a:t>
            </a:r>
            <a:endParaRPr sz="1700"/>
          </a:p>
          <a:p>
            <a:pPr indent="-336550" lvl="0" marL="457200" rtl="0" algn="l">
              <a:lnSpc>
                <a:spcPct val="100000"/>
              </a:lnSpc>
              <a:spcBef>
                <a:spcPts val="1000"/>
              </a:spcBef>
              <a:spcAft>
                <a:spcPts val="0"/>
              </a:spcAft>
              <a:buSzPts val="1700"/>
              <a:buChar char="●"/>
            </a:pPr>
            <a:r>
              <a:rPr lang="en" sz="1700"/>
              <a:t>New Keys addition in PDF Setting</a:t>
            </a:r>
            <a:endParaRPr sz="1700"/>
          </a:p>
          <a:p>
            <a:pPr indent="-336550" lvl="0" marL="457200" rtl="0" algn="l">
              <a:lnSpc>
                <a:spcPct val="100000"/>
              </a:lnSpc>
              <a:spcBef>
                <a:spcPts val="1000"/>
              </a:spcBef>
              <a:spcAft>
                <a:spcPts val="0"/>
              </a:spcAft>
              <a:buSzPts val="1700"/>
              <a:buChar char="●"/>
            </a:pPr>
            <a:r>
              <a:rPr lang="en" sz="1700"/>
              <a:t>GSTIN Changes </a:t>
            </a:r>
            <a:endParaRPr sz="1700"/>
          </a:p>
          <a:p>
            <a:pPr indent="-336550" lvl="0" marL="457200" rtl="0" algn="l">
              <a:lnSpc>
                <a:spcPct val="100000"/>
              </a:lnSpc>
              <a:spcBef>
                <a:spcPts val="1000"/>
              </a:spcBef>
              <a:spcAft>
                <a:spcPts val="0"/>
              </a:spcAft>
              <a:buSzPts val="1700"/>
              <a:buChar char="●"/>
            </a:pPr>
            <a:r>
              <a:rPr lang="en" sz="1700"/>
              <a:t>City Dropdown Changes</a:t>
            </a:r>
            <a:endParaRPr sz="1700"/>
          </a:p>
          <a:p>
            <a:pPr indent="0" lvl="0" marL="457200" rtl="0" algn="l">
              <a:lnSpc>
                <a:spcPct val="100000"/>
              </a:lnSpc>
              <a:spcBef>
                <a:spcPts val="1000"/>
              </a:spcBef>
              <a:spcAft>
                <a:spcPts val="0"/>
              </a:spcAft>
              <a:buNone/>
            </a:pPr>
            <a:r>
              <a:t/>
            </a:r>
            <a:endParaRPr sz="1700"/>
          </a:p>
          <a:p>
            <a:pPr indent="0" lvl="0" marL="457200" rtl="0" algn="l">
              <a:lnSpc>
                <a:spcPct val="100000"/>
              </a:lnSpc>
              <a:spcBef>
                <a:spcPts val="1000"/>
              </a:spcBef>
              <a:spcAft>
                <a:spcPts val="0"/>
              </a:spcAft>
              <a:buNone/>
            </a:pPr>
            <a:r>
              <a:t/>
            </a:r>
            <a:endParaRPr sz="1700"/>
          </a:p>
          <a:p>
            <a:pPr indent="0" lvl="0" marL="0" rtl="0" algn="l">
              <a:lnSpc>
                <a:spcPct val="100000"/>
              </a:lnSpc>
              <a:spcBef>
                <a:spcPts val="1000"/>
              </a:spcBef>
              <a:spcAft>
                <a:spcPts val="1000"/>
              </a:spcAft>
              <a:buNone/>
            </a:pPr>
            <a:r>
              <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457200" rtl="0" algn="l">
              <a:spcBef>
                <a:spcPts val="0"/>
              </a:spcBef>
              <a:spcAft>
                <a:spcPts val="0"/>
              </a:spcAft>
              <a:buSzPts val="990"/>
              <a:buNone/>
            </a:pPr>
            <a:r>
              <a:rPr b="1" lang="en" sz="2530"/>
              <a:t>Key Additions in PDF Setting</a:t>
            </a:r>
            <a:endParaRPr b="1" sz="2530"/>
          </a:p>
          <a:p>
            <a:pPr indent="0" lvl="0" marL="0" rtl="0" algn="l">
              <a:spcBef>
                <a:spcPts val="1000"/>
              </a:spcBef>
              <a:spcAft>
                <a:spcPts val="0"/>
              </a:spcAft>
              <a:buSzPts val="990"/>
              <a:buNone/>
            </a:pPr>
            <a:r>
              <a:t/>
            </a:r>
            <a:endParaRPr sz="1530"/>
          </a:p>
        </p:txBody>
      </p:sp>
      <p:sp>
        <p:nvSpPr>
          <p:cNvPr id="93" name="Google Shape;93;p17"/>
          <p:cNvSpPr txBox="1"/>
          <p:nvPr>
            <p:ph idx="1" type="body"/>
          </p:nvPr>
        </p:nvSpPr>
        <p:spPr>
          <a:xfrm>
            <a:off x="78725" y="1627025"/>
            <a:ext cx="9001200" cy="3516600"/>
          </a:xfrm>
          <a:prstGeom prst="rect">
            <a:avLst/>
          </a:prstGeom>
        </p:spPr>
        <p:txBody>
          <a:bodyPr anchorCtr="0" anchor="t" bIns="91425" lIns="91425" spcFirstLastPara="1" rIns="91425" wrap="square" tIns="91425">
            <a:normAutofit/>
          </a:bodyPr>
          <a:lstStyle/>
          <a:p>
            <a:pPr indent="-343929" lvl="0" marL="457200" rtl="0" algn="l">
              <a:lnSpc>
                <a:spcPct val="150000"/>
              </a:lnSpc>
              <a:spcBef>
                <a:spcPts val="0"/>
              </a:spcBef>
              <a:spcAft>
                <a:spcPts val="0"/>
              </a:spcAft>
              <a:buClr>
                <a:schemeClr val="dk2"/>
              </a:buClr>
              <a:buSzPts val="1816"/>
              <a:buAutoNum type="arabicParenR"/>
            </a:pPr>
            <a:r>
              <a:rPr lang="en" sz="1816">
                <a:solidFill>
                  <a:schemeClr val="dk2"/>
                </a:solidFill>
              </a:rPr>
              <a:t>Key Addition in Pdf setting - for Module - PO, Trigger - Generated Keys added are - Site Name, Site Address, Job Number, AMC Number And this keys are added in extension also.</a:t>
            </a:r>
            <a:endParaRPr sz="1816">
              <a:solidFill>
                <a:schemeClr val="dk2"/>
              </a:solidFill>
            </a:endParaRPr>
          </a:p>
          <a:p>
            <a:pPr indent="-343929" lvl="0" marL="457200" rtl="0" algn="l">
              <a:lnSpc>
                <a:spcPct val="150000"/>
              </a:lnSpc>
              <a:spcBef>
                <a:spcPts val="0"/>
              </a:spcBef>
              <a:spcAft>
                <a:spcPts val="0"/>
              </a:spcAft>
              <a:buClr>
                <a:schemeClr val="dk2"/>
              </a:buClr>
              <a:buSzPts val="1816"/>
              <a:buAutoNum type="arabicParenR"/>
            </a:pPr>
            <a:r>
              <a:rPr lang="en" sz="1816">
                <a:solidFill>
                  <a:schemeClr val="dk2"/>
                </a:solidFill>
              </a:rPr>
              <a:t>In PDF setting - New key is added names - Total Tax Amount - which will include Basic amount + GST amount and this key can be pasted in table in pdf.</a:t>
            </a:r>
            <a:endParaRPr sz="1816">
              <a:solidFill>
                <a:schemeClr val="dk2"/>
              </a:solidFill>
            </a:endParaRPr>
          </a:p>
          <a:p>
            <a:pPr indent="-342900" lvl="0" marL="457200" rtl="0" algn="l">
              <a:lnSpc>
                <a:spcPct val="150000"/>
              </a:lnSpc>
              <a:spcBef>
                <a:spcPts val="0"/>
              </a:spcBef>
              <a:spcAft>
                <a:spcPts val="0"/>
              </a:spcAft>
              <a:buClr>
                <a:schemeClr val="dk2"/>
              </a:buClr>
              <a:buSzPts val="1800"/>
              <a:buAutoNum type="arabicParenR"/>
            </a:pPr>
            <a:r>
              <a:rPr lang="en" sz="1816">
                <a:solidFill>
                  <a:schemeClr val="dk2"/>
                </a:solidFill>
              </a:rPr>
              <a:t> Key can be searched in PDF setting.</a:t>
            </a:r>
            <a:r>
              <a:rPr lang="en">
                <a:solidFill>
                  <a:schemeClr val="dk2"/>
                </a:solidFill>
              </a:rPr>
              <a:t> </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471900" y="249300"/>
            <a:ext cx="8222100" cy="1285800"/>
          </a:xfrm>
          <a:prstGeom prst="rect">
            <a:avLst/>
          </a:prstGeom>
        </p:spPr>
        <p:txBody>
          <a:bodyPr anchorCtr="0" anchor="b" bIns="91425" lIns="91425" spcFirstLastPara="1" rIns="91425" wrap="square" tIns="91425">
            <a:normAutofit/>
          </a:bodyPr>
          <a:lstStyle/>
          <a:p>
            <a:pPr indent="0" lvl="0" marL="457200" rtl="0" algn="ctr">
              <a:spcBef>
                <a:spcPts val="0"/>
              </a:spcBef>
              <a:spcAft>
                <a:spcPts val="0"/>
              </a:spcAft>
              <a:buClr>
                <a:srgbClr val="000000"/>
              </a:buClr>
              <a:buSzPts val="990"/>
              <a:buFont typeface="Arial"/>
              <a:buNone/>
            </a:pPr>
            <a:r>
              <a:rPr b="1" lang="en" sz="2530"/>
              <a:t>Key Additions in PDF Setting</a:t>
            </a:r>
            <a:endParaRPr b="1" sz="2530"/>
          </a:p>
          <a:p>
            <a:pPr indent="0" lvl="0" marL="0" rtl="0" algn="l">
              <a:spcBef>
                <a:spcPts val="1000"/>
              </a:spcBef>
              <a:spcAft>
                <a:spcPts val="0"/>
              </a:spcAft>
              <a:buNone/>
            </a:pPr>
            <a:r>
              <a:t/>
            </a:r>
            <a:endParaRPr/>
          </a:p>
        </p:txBody>
      </p:sp>
      <p:sp>
        <p:nvSpPr>
          <p:cNvPr id="99" name="Google Shape;99;p18"/>
          <p:cNvSpPr txBox="1"/>
          <p:nvPr>
            <p:ph idx="1" type="body"/>
          </p:nvPr>
        </p:nvSpPr>
        <p:spPr>
          <a:xfrm>
            <a:off x="0" y="1627050"/>
            <a:ext cx="9144000" cy="3516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 sz="7400">
                <a:solidFill>
                  <a:schemeClr val="dk2"/>
                </a:solidFill>
              </a:rPr>
              <a:t>Added the Following Keys in the Corresponding PDFs</a:t>
            </a:r>
            <a:endParaRPr b="1" sz="7400">
              <a:solidFill>
                <a:schemeClr val="dk2"/>
              </a:solidFill>
            </a:endParaRPr>
          </a:p>
          <a:p>
            <a:pPr indent="0" lvl="0" marL="0" rtl="0" algn="l">
              <a:spcBef>
                <a:spcPts val="1200"/>
              </a:spcBef>
              <a:spcAft>
                <a:spcPts val="0"/>
              </a:spcAft>
              <a:buNone/>
            </a:pPr>
            <a:r>
              <a:rPr lang="en" sz="7400">
                <a:solidFill>
                  <a:schemeClr val="dk2"/>
                </a:solidFill>
              </a:rPr>
              <a:t>A. PM Service Report (PM Checklist Report and PM Checklist with Inspection Report)</a:t>
            </a:r>
            <a:br>
              <a:rPr lang="en" sz="7400">
                <a:solidFill>
                  <a:schemeClr val="dk2"/>
                </a:solidFill>
              </a:rPr>
            </a:br>
            <a:r>
              <a:rPr lang="en" sz="7400">
                <a:solidFill>
                  <a:schemeClr val="dk2"/>
                </a:solidFill>
              </a:rPr>
              <a:t>Lift Maker Name</a:t>
            </a:r>
            <a:br>
              <a:rPr lang="en" sz="7400">
                <a:solidFill>
                  <a:schemeClr val="dk2"/>
                </a:solidFill>
              </a:rPr>
            </a:br>
            <a:r>
              <a:rPr lang="en" sz="7400">
                <a:solidFill>
                  <a:schemeClr val="dk2"/>
                </a:solidFill>
              </a:rPr>
              <a:t>Service Time Out </a:t>
            </a:r>
            <a:endParaRPr sz="7400">
              <a:solidFill>
                <a:schemeClr val="dk2"/>
              </a:solidFill>
            </a:endParaRPr>
          </a:p>
          <a:p>
            <a:pPr indent="0" lvl="0" marL="0" rtl="0" algn="l">
              <a:spcBef>
                <a:spcPts val="1200"/>
              </a:spcBef>
              <a:spcAft>
                <a:spcPts val="0"/>
              </a:spcAft>
              <a:buNone/>
            </a:pPr>
            <a:r>
              <a:rPr lang="en" sz="7400">
                <a:solidFill>
                  <a:schemeClr val="dk2"/>
                </a:solidFill>
              </a:rPr>
              <a:t>B. Job Handover Letter</a:t>
            </a:r>
            <a:br>
              <a:rPr lang="en" sz="7400">
                <a:solidFill>
                  <a:schemeClr val="dk2"/>
                </a:solidFill>
              </a:rPr>
            </a:br>
            <a:r>
              <a:rPr lang="en" sz="7400">
                <a:solidFill>
                  <a:schemeClr val="dk2"/>
                </a:solidFill>
              </a:rPr>
              <a:t>PM Duration</a:t>
            </a:r>
            <a:br>
              <a:rPr lang="en" sz="7400">
                <a:solidFill>
                  <a:schemeClr val="dk2"/>
                </a:solidFill>
              </a:rPr>
            </a:br>
            <a:r>
              <a:rPr lang="en" sz="7400">
                <a:solidFill>
                  <a:schemeClr val="dk2"/>
                </a:solidFill>
              </a:rPr>
              <a:t>Quantity - to be standard</a:t>
            </a:r>
            <a:endParaRPr sz="7400">
              <a:solidFill>
                <a:schemeClr val="dk2"/>
              </a:solidFill>
            </a:endParaRPr>
          </a:p>
          <a:p>
            <a:pPr indent="0" lvl="0" marL="0" rtl="0" algn="l">
              <a:spcBef>
                <a:spcPts val="1200"/>
              </a:spcBef>
              <a:spcAft>
                <a:spcPts val="0"/>
              </a:spcAft>
              <a:buNone/>
            </a:pPr>
            <a:r>
              <a:rPr lang="en" sz="7400">
                <a:solidFill>
                  <a:schemeClr val="dk2"/>
                </a:solidFill>
              </a:rPr>
              <a:t>C. All PM PDFs</a:t>
            </a:r>
            <a:br>
              <a:rPr lang="en" sz="7400">
                <a:solidFill>
                  <a:schemeClr val="dk2"/>
                </a:solidFill>
              </a:rPr>
            </a:br>
            <a:r>
              <a:rPr lang="en" sz="7400">
                <a:solidFill>
                  <a:schemeClr val="dk2"/>
                </a:solidFill>
              </a:rPr>
              <a:t>PM Duration</a:t>
            </a:r>
            <a:br>
              <a:rPr lang="en" sz="7400">
                <a:solidFill>
                  <a:schemeClr val="dk2"/>
                </a:solidFill>
              </a:rPr>
            </a:br>
            <a:r>
              <a:rPr lang="en" sz="7400">
                <a:solidFill>
                  <a:schemeClr val="dk2"/>
                </a:solidFill>
              </a:rPr>
              <a:t>Designation of Executive</a:t>
            </a:r>
            <a:br>
              <a:rPr lang="en" sz="7400">
                <a:solidFill>
                  <a:schemeClr val="dk2"/>
                </a:solidFill>
              </a:rPr>
            </a:br>
            <a:r>
              <a:rPr lang="en" sz="7400">
                <a:solidFill>
                  <a:schemeClr val="dk2"/>
                </a:solidFill>
              </a:rPr>
              <a:t>Job Number</a:t>
            </a:r>
            <a:br>
              <a:rPr lang="en" sz="7400">
                <a:solidFill>
                  <a:schemeClr val="dk2"/>
                </a:solidFill>
              </a:rPr>
            </a:br>
            <a:br>
              <a:rPr lang="en" sz="7400">
                <a:solidFill>
                  <a:schemeClr val="dk2"/>
                </a:solidFill>
              </a:rPr>
            </a:br>
            <a:br>
              <a:rPr lang="en" sz="7400">
                <a:solidFill>
                  <a:schemeClr val="dk2"/>
                </a:solidFill>
              </a:rPr>
            </a:br>
            <a:endParaRPr sz="7400">
              <a:solidFill>
                <a:schemeClr val="dk2"/>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PO and GRN can be generated against PM and Other - two new options are provided </a:t>
            </a:r>
            <a:endParaRPr b="1" sz="2800"/>
          </a:p>
          <a:p>
            <a:pPr indent="0" lvl="0" marL="0" rtl="0" algn="l">
              <a:spcBef>
                <a:spcPts val="0"/>
              </a:spcBef>
              <a:spcAft>
                <a:spcPts val="0"/>
              </a:spcAft>
              <a:buSzPts val="990"/>
              <a:buNone/>
            </a:pPr>
            <a:r>
              <a:t/>
            </a:r>
            <a:endParaRPr sz="1530"/>
          </a:p>
        </p:txBody>
      </p:sp>
      <p:sp>
        <p:nvSpPr>
          <p:cNvPr id="105" name="Google Shape;105;p1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2"/>
                </a:solidFill>
              </a:rPr>
              <a:t>Limitation :</a:t>
            </a:r>
            <a:r>
              <a:rPr lang="en">
                <a:solidFill>
                  <a:schemeClr val="dk2"/>
                </a:solidFill>
              </a:rPr>
              <a:t> Earlier </a:t>
            </a:r>
            <a:r>
              <a:rPr lang="en">
                <a:solidFill>
                  <a:schemeClr val="dk2"/>
                </a:solidFill>
              </a:rPr>
              <a:t>there was only support provided for Job to create PO</a:t>
            </a:r>
            <a:br>
              <a:rPr lang="en">
                <a:solidFill>
                  <a:schemeClr val="dk2"/>
                </a:solidFill>
              </a:rPr>
            </a:br>
            <a:br>
              <a:rPr lang="en">
                <a:solidFill>
                  <a:schemeClr val="dk2"/>
                </a:solidFill>
              </a:rPr>
            </a:br>
            <a:r>
              <a:rPr b="1" lang="en">
                <a:solidFill>
                  <a:schemeClr val="dk2"/>
                </a:solidFill>
              </a:rPr>
              <a:t>Solution :</a:t>
            </a:r>
            <a:br>
              <a:rPr lang="en">
                <a:solidFill>
                  <a:schemeClr val="dk2"/>
                </a:solidFill>
              </a:rPr>
            </a:br>
            <a:r>
              <a:rPr lang="en">
                <a:solidFill>
                  <a:schemeClr val="dk2"/>
                </a:solidFill>
              </a:rPr>
              <a:t>Enabled PO for PM and other purchases added in MATL PO/GRN master and also added in info button of PO, info includes -</a:t>
            </a:r>
            <a:endParaRPr>
              <a:solidFill>
                <a:schemeClr val="dk2"/>
              </a:solidFill>
            </a:endParaRPr>
          </a:p>
          <a:p>
            <a:pPr indent="0" lvl="0" marL="0" rtl="0" algn="l">
              <a:spcBef>
                <a:spcPts val="1200"/>
              </a:spcBef>
              <a:spcAft>
                <a:spcPts val="0"/>
              </a:spcAft>
              <a:buNone/>
            </a:pPr>
            <a:r>
              <a:rPr lang="en">
                <a:solidFill>
                  <a:schemeClr val="dk2"/>
                </a:solidFill>
              </a:rPr>
              <a:t>Firm Name, Site Name, Wing Name, Lift Name</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471900" y="367400"/>
            <a:ext cx="8222100" cy="1139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2900"/>
              <a:t>PO and GRN can be generated against PM and Other - two new options are provided </a:t>
            </a:r>
            <a:endParaRPr/>
          </a:p>
        </p:txBody>
      </p:sp>
      <p:sp>
        <p:nvSpPr>
          <p:cNvPr id="111" name="Google Shape;111;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112" name="Google Shape;112;p20"/>
          <p:cNvPicPr preferRelativeResize="0"/>
          <p:nvPr/>
        </p:nvPicPr>
        <p:blipFill>
          <a:blip r:embed="rId3">
            <a:alphaModFix/>
          </a:blip>
          <a:stretch>
            <a:fillRect/>
          </a:stretch>
        </p:blipFill>
        <p:spPr>
          <a:xfrm>
            <a:off x="10950" y="0"/>
            <a:ext cx="9144000" cy="514350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471900" y="262425"/>
            <a:ext cx="8222100" cy="1181100"/>
          </a:xfrm>
          <a:prstGeom prst="rect">
            <a:avLst/>
          </a:prstGeom>
        </p:spPr>
        <p:txBody>
          <a:bodyPr anchorCtr="0" anchor="b" bIns="91425" lIns="91425" spcFirstLastPara="1" rIns="91425" wrap="square" tIns="91425">
            <a:normAutofit/>
          </a:bodyPr>
          <a:lstStyle/>
          <a:p>
            <a:pPr indent="-387350" lvl="0" marL="457200" rtl="0" algn="l">
              <a:spcBef>
                <a:spcPts val="0"/>
              </a:spcBef>
              <a:spcAft>
                <a:spcPts val="1000"/>
              </a:spcAft>
              <a:buSzPts val="2500"/>
              <a:buChar char="●"/>
            </a:pPr>
            <a:r>
              <a:rPr b="1" lang="en" sz="2500"/>
              <a:t>Reacquisition Of Surplus and damaged inventory</a:t>
            </a:r>
            <a:endParaRPr b="1" sz="4000"/>
          </a:p>
        </p:txBody>
      </p:sp>
      <p:sp>
        <p:nvSpPr>
          <p:cNvPr id="118" name="Google Shape;118;p2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en" sz="1525">
                <a:solidFill>
                  <a:schemeClr val="dk2"/>
                </a:solidFill>
              </a:rPr>
              <a:t>Reacquisition</a:t>
            </a:r>
            <a:r>
              <a:rPr lang="en" sz="1525">
                <a:solidFill>
                  <a:schemeClr val="dk2"/>
                </a:solidFill>
              </a:rPr>
              <a:t> of Surplus and damaged inventory  - added option of returning surplus ,unused and </a:t>
            </a:r>
            <a:r>
              <a:rPr lang="en" sz="1525">
                <a:solidFill>
                  <a:schemeClr val="dk2"/>
                </a:solidFill>
              </a:rPr>
              <a:t>damaged</a:t>
            </a:r>
            <a:r>
              <a:rPr lang="en" sz="1525">
                <a:solidFill>
                  <a:schemeClr val="dk2"/>
                </a:solidFill>
              </a:rPr>
              <a:t> product</a:t>
            </a:r>
            <a:endParaRPr sz="1525">
              <a:solidFill>
                <a:schemeClr val="dk2"/>
              </a:solidFill>
            </a:endParaRPr>
          </a:p>
          <a:p>
            <a:pPr indent="0" lvl="0" marL="0" rtl="0" algn="l">
              <a:lnSpc>
                <a:spcPct val="105000"/>
              </a:lnSpc>
              <a:spcBef>
                <a:spcPts val="1200"/>
              </a:spcBef>
              <a:spcAft>
                <a:spcPts val="0"/>
              </a:spcAft>
              <a:buSzPts val="688"/>
              <a:buNone/>
            </a:pPr>
            <a:r>
              <a:rPr lang="en" sz="1525">
                <a:solidFill>
                  <a:schemeClr val="dk2"/>
                </a:solidFill>
              </a:rPr>
              <a:t>In MATL master added two new reports for returning inventory - Return Inventory report and Defective Product report. </a:t>
            </a:r>
            <a:endParaRPr sz="1525">
              <a:solidFill>
                <a:schemeClr val="dk2"/>
              </a:solidFill>
            </a:endParaRPr>
          </a:p>
          <a:p>
            <a:pPr indent="0" lvl="0" marL="0" rtl="0" algn="l">
              <a:lnSpc>
                <a:spcPct val="105000"/>
              </a:lnSpc>
              <a:spcBef>
                <a:spcPts val="1200"/>
              </a:spcBef>
              <a:spcAft>
                <a:spcPts val="0"/>
              </a:spcAft>
              <a:buSzPts val="688"/>
              <a:buNone/>
            </a:pPr>
            <a:r>
              <a:rPr lang="en" sz="1525">
                <a:solidFill>
                  <a:schemeClr val="dk2"/>
                </a:solidFill>
              </a:rPr>
              <a:t>From Return inventory admin will approve or reject return request. Defective product report will have different material status like - Damaged – Not Reusable,</a:t>
            </a:r>
            <a:endParaRPr sz="1525">
              <a:solidFill>
                <a:schemeClr val="dk2"/>
              </a:solidFill>
            </a:endParaRPr>
          </a:p>
          <a:p>
            <a:pPr indent="0" lvl="0" marL="0" rtl="0" algn="l">
              <a:lnSpc>
                <a:spcPct val="105000"/>
              </a:lnSpc>
              <a:spcBef>
                <a:spcPts val="1200"/>
              </a:spcBef>
              <a:spcAft>
                <a:spcPts val="0"/>
              </a:spcAft>
              <a:buSzPts val="688"/>
              <a:buNone/>
            </a:pPr>
            <a:r>
              <a:rPr lang="en" sz="1525">
                <a:solidFill>
                  <a:schemeClr val="dk2"/>
                </a:solidFill>
              </a:rPr>
              <a:t>Damaged – Reusable,Incorrect Item Delivered, Surplus (Unused), Incomplete Item, and Other</a:t>
            </a:r>
            <a:endParaRPr sz="1525">
              <a:solidFill>
                <a:schemeClr val="dk2"/>
              </a:solidFill>
            </a:endParaRPr>
          </a:p>
          <a:p>
            <a:pPr indent="0" lvl="0" marL="0" rtl="0" algn="l">
              <a:lnSpc>
                <a:spcPct val="105000"/>
              </a:lnSpc>
              <a:spcBef>
                <a:spcPts val="1200"/>
              </a:spcBef>
              <a:spcAft>
                <a:spcPts val="0"/>
              </a:spcAft>
              <a:buSzPts val="688"/>
              <a:buNone/>
            </a:pPr>
            <a:r>
              <a:rPr lang="en" sz="1525">
                <a:solidFill>
                  <a:schemeClr val="dk2"/>
                </a:solidFill>
              </a:rPr>
              <a:t>Damaged – Not Reusable this will not be added in inventory other than this for all status</a:t>
            </a:r>
            <a:endParaRPr sz="1525">
              <a:solidFill>
                <a:schemeClr val="dk2"/>
              </a:solidFill>
            </a:endParaRPr>
          </a:p>
          <a:p>
            <a:pPr indent="0" lvl="0" marL="0" rtl="0" algn="l">
              <a:lnSpc>
                <a:spcPct val="105000"/>
              </a:lnSpc>
              <a:spcBef>
                <a:spcPts val="1200"/>
              </a:spcBef>
              <a:spcAft>
                <a:spcPts val="1200"/>
              </a:spcAft>
              <a:buSzPts val="688"/>
              <a:buNone/>
            </a:pPr>
            <a:r>
              <a:t/>
            </a:r>
            <a:endParaRPr sz="1525">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374650" lvl="0" marL="457200" rtl="0" algn="l">
              <a:spcBef>
                <a:spcPts val="0"/>
              </a:spcBef>
              <a:spcAft>
                <a:spcPts val="1000"/>
              </a:spcAft>
              <a:buSzPts val="2300"/>
              <a:buChar char="●"/>
            </a:pPr>
            <a:r>
              <a:rPr b="1" lang="en" sz="2300"/>
              <a:t>Reacquisition Of Surplus and damaged inventory</a:t>
            </a:r>
            <a:endParaRPr sz="3300"/>
          </a:p>
        </p:txBody>
      </p:sp>
      <p:sp>
        <p:nvSpPr>
          <p:cNvPr id="124" name="Google Shape;124;p22"/>
          <p:cNvSpPr txBox="1"/>
          <p:nvPr>
            <p:ph idx="1" type="body"/>
          </p:nvPr>
        </p:nvSpPr>
        <p:spPr>
          <a:xfrm>
            <a:off x="0" y="1666400"/>
            <a:ext cx="9144000" cy="34770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0"/>
              </a:spcAft>
              <a:buClr>
                <a:srgbClr val="000000"/>
              </a:buClr>
              <a:buSzPts val="688"/>
              <a:buFont typeface="Arial"/>
              <a:buNone/>
            </a:pPr>
            <a:r>
              <a:rPr lang="en" sz="1925">
                <a:solidFill>
                  <a:schemeClr val="dk2"/>
                </a:solidFill>
              </a:rPr>
              <a:t>M</a:t>
            </a:r>
            <a:r>
              <a:rPr lang="en" sz="1925">
                <a:solidFill>
                  <a:schemeClr val="dk2"/>
                </a:solidFill>
              </a:rPr>
              <a:t>aterial will directly get added to inventory of that particular warehouse</a:t>
            </a:r>
            <a:br>
              <a:rPr lang="en" sz="1925">
                <a:solidFill>
                  <a:schemeClr val="dk2"/>
                </a:solidFill>
              </a:rPr>
            </a:br>
            <a:r>
              <a:rPr lang="en" sz="1925">
                <a:solidFill>
                  <a:schemeClr val="dk2"/>
                </a:solidFill>
              </a:rPr>
              <a:t>which was selected at time of creating return inventory order from app.</a:t>
            </a:r>
            <a:endParaRPr sz="1925">
              <a:solidFill>
                <a:schemeClr val="dk2"/>
              </a:solidFill>
            </a:endParaRPr>
          </a:p>
          <a:p>
            <a:pPr indent="0" lvl="0" marL="0" rtl="0" algn="l">
              <a:lnSpc>
                <a:spcPct val="105000"/>
              </a:lnSpc>
              <a:spcBef>
                <a:spcPts val="1200"/>
              </a:spcBef>
              <a:spcAft>
                <a:spcPts val="0"/>
              </a:spcAft>
              <a:buClr>
                <a:srgbClr val="000000"/>
              </a:buClr>
              <a:buSzPts val="688"/>
              <a:buFont typeface="Arial"/>
              <a:buNone/>
            </a:pPr>
            <a:r>
              <a:rPr lang="en" sz="1925">
                <a:solidFill>
                  <a:schemeClr val="dk2"/>
                </a:solidFill>
              </a:rPr>
              <a:t>User access for Return Inventory Report and Defective product report has been given. Admin can access all.</a:t>
            </a:r>
            <a:endParaRPr sz="1925">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30" name="Google Shape;130;p2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1" name="Google Shape;131;p23"/>
          <p:cNvPicPr preferRelativeResize="0"/>
          <p:nvPr/>
        </p:nvPicPr>
        <p:blipFill>
          <a:blip r:embed="rId3">
            <a:alphaModFix/>
          </a:blip>
          <a:stretch>
            <a:fillRect/>
          </a:stretch>
        </p:blipFill>
        <p:spPr>
          <a:xfrm>
            <a:off x="0" y="170575"/>
            <a:ext cx="9144000" cy="4776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37" name="Google Shape;137;p2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8" name="Google Shape;138;p24"/>
          <p:cNvPicPr preferRelativeResize="0"/>
          <p:nvPr/>
        </p:nvPicPr>
        <p:blipFill>
          <a:blip r:embed="rId3">
            <a:alphaModFix/>
          </a:blip>
          <a:stretch>
            <a:fillRect/>
          </a:stretch>
        </p:blipFill>
        <p:spPr>
          <a:xfrm>
            <a:off x="67950" y="0"/>
            <a:ext cx="2657475" cy="5143499"/>
          </a:xfrm>
          <a:prstGeom prst="rect">
            <a:avLst/>
          </a:prstGeom>
          <a:noFill/>
          <a:ln>
            <a:noFill/>
          </a:ln>
        </p:spPr>
      </p:pic>
      <p:pic>
        <p:nvPicPr>
          <p:cNvPr id="139" name="Google Shape;139;p24"/>
          <p:cNvPicPr preferRelativeResize="0"/>
          <p:nvPr/>
        </p:nvPicPr>
        <p:blipFill rotWithShape="1">
          <a:blip r:embed="rId4">
            <a:alphaModFix/>
          </a:blip>
          <a:srcRect b="0" l="0" r="7885" t="0"/>
          <a:stretch/>
        </p:blipFill>
        <p:spPr>
          <a:xfrm>
            <a:off x="3004751" y="38100"/>
            <a:ext cx="2730675" cy="5067300"/>
          </a:xfrm>
          <a:prstGeom prst="rect">
            <a:avLst/>
          </a:prstGeom>
          <a:noFill/>
          <a:ln>
            <a:noFill/>
          </a:ln>
        </p:spPr>
      </p:pic>
      <p:pic>
        <p:nvPicPr>
          <p:cNvPr id="140" name="Google Shape;140;p24"/>
          <p:cNvPicPr preferRelativeResize="0"/>
          <p:nvPr/>
        </p:nvPicPr>
        <p:blipFill>
          <a:blip r:embed="rId5">
            <a:alphaModFix/>
          </a:blip>
          <a:stretch>
            <a:fillRect/>
          </a:stretch>
        </p:blipFill>
        <p:spPr>
          <a:xfrm>
            <a:off x="5930776" y="38100"/>
            <a:ext cx="2950100"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370205" lvl="0" marL="457200" rtl="0" algn="l">
              <a:spcBef>
                <a:spcPts val="0"/>
              </a:spcBef>
              <a:spcAft>
                <a:spcPts val="0"/>
              </a:spcAft>
              <a:buSzPts val="2230"/>
              <a:buChar char="●"/>
            </a:pPr>
            <a:r>
              <a:rPr b="1" lang="en" sz="2230"/>
              <a:t>HSN Code in Document of DC, Repair Order - added in and pdf </a:t>
            </a:r>
            <a:endParaRPr b="1" sz="2230"/>
          </a:p>
          <a:p>
            <a:pPr indent="0" lvl="0" marL="0" rtl="0" algn="l">
              <a:spcBef>
                <a:spcPts val="1000"/>
              </a:spcBef>
              <a:spcAft>
                <a:spcPts val="0"/>
              </a:spcAft>
              <a:buSzPts val="990"/>
              <a:buNone/>
            </a:pPr>
            <a:r>
              <a:t/>
            </a:r>
            <a:endParaRPr sz="1530"/>
          </a:p>
        </p:txBody>
      </p:sp>
      <p:sp>
        <p:nvSpPr>
          <p:cNvPr id="146" name="Google Shape;146;p25"/>
          <p:cNvSpPr txBox="1"/>
          <p:nvPr>
            <p:ph idx="1" type="body"/>
          </p:nvPr>
        </p:nvSpPr>
        <p:spPr>
          <a:xfrm>
            <a:off x="0" y="1649475"/>
            <a:ext cx="9212700" cy="354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7" name="Google Shape;147;p25"/>
          <p:cNvPicPr preferRelativeResize="0"/>
          <p:nvPr/>
        </p:nvPicPr>
        <p:blipFill>
          <a:blip r:embed="rId3">
            <a:alphaModFix/>
          </a:blip>
          <a:stretch>
            <a:fillRect/>
          </a:stretch>
        </p:blipFill>
        <p:spPr>
          <a:xfrm>
            <a:off x="1000850" y="1738150"/>
            <a:ext cx="5928950" cy="32672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460950" y="183700"/>
            <a:ext cx="8222100" cy="1377600"/>
          </a:xfrm>
          <a:prstGeom prst="rect">
            <a:avLst/>
          </a:prstGeom>
        </p:spPr>
        <p:txBody>
          <a:bodyPr anchorCtr="0" anchor="b" bIns="91425" lIns="91425" spcFirstLastPara="1" rIns="91425" wrap="square" tIns="91425">
            <a:noAutofit/>
          </a:bodyPr>
          <a:lstStyle/>
          <a:p>
            <a:pPr indent="0" lvl="0" marL="457200" rtl="0" algn="ctr">
              <a:lnSpc>
                <a:spcPct val="115000"/>
              </a:lnSpc>
              <a:spcBef>
                <a:spcPts val="0"/>
              </a:spcBef>
              <a:spcAft>
                <a:spcPts val="0"/>
              </a:spcAft>
              <a:buNone/>
            </a:pPr>
            <a:r>
              <a:rPr b="1" lang="en" sz="2230"/>
              <a:t>BOM Planning</a:t>
            </a:r>
            <a:endParaRPr b="1" sz="2230"/>
          </a:p>
          <a:p>
            <a:pPr indent="0" lvl="0" marL="0" rtl="0" algn="l">
              <a:spcBef>
                <a:spcPts val="1200"/>
              </a:spcBef>
              <a:spcAft>
                <a:spcPts val="0"/>
              </a:spcAft>
              <a:buSzPts val="990"/>
              <a:buNone/>
            </a:pPr>
            <a:r>
              <a:t/>
            </a:r>
            <a:endParaRPr sz="1530"/>
          </a:p>
        </p:txBody>
      </p:sp>
      <p:sp>
        <p:nvSpPr>
          <p:cNvPr id="153" name="Google Shape;153;p2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2"/>
              </a:buClr>
              <a:buSzPts val="1800"/>
              <a:buAutoNum type="arabicParenR"/>
            </a:pPr>
            <a:r>
              <a:rPr lang="en">
                <a:solidFill>
                  <a:schemeClr val="dk2"/>
                </a:solidFill>
              </a:rPr>
              <a:t>BOM planning can be created from Admin panel - new master BOM planning added - From which for a particular Phase and Stage we can add BOM and also download it ,Each BOM plan is associated with a specific job and lift type. </a:t>
            </a:r>
            <a:endParaRPr>
              <a:solidFill>
                <a:schemeClr val="dk2"/>
              </a:solidFill>
            </a:endParaRPr>
          </a:p>
          <a:p>
            <a:pPr indent="-342900" lvl="0" marL="457200" rtl="0" algn="l">
              <a:spcBef>
                <a:spcPts val="0"/>
              </a:spcBef>
              <a:spcAft>
                <a:spcPts val="0"/>
              </a:spcAft>
              <a:buClr>
                <a:schemeClr val="dk2"/>
              </a:buClr>
              <a:buSzPts val="1800"/>
              <a:buAutoNum type="arabicParenR"/>
            </a:pPr>
            <a:r>
              <a:rPr lang="en">
                <a:solidFill>
                  <a:schemeClr val="dk2"/>
                </a:solidFill>
              </a:rPr>
              <a:t>Job Search and Verify button option is provided for BOM, after verifying Site name, Firm Name, Lift Name and Wing Name can be seen , If any BOM exist for that particular job all entries will be displayed below </a:t>
            </a:r>
            <a:endParaRPr>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59" name="Google Shape;159;p2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0" name="Google Shape;160;p27"/>
          <p:cNvPicPr preferRelativeResize="0"/>
          <p:nvPr/>
        </p:nvPicPr>
        <p:blipFill>
          <a:blip r:embed="rId3">
            <a:alphaModFix/>
          </a:blip>
          <a:stretch>
            <a:fillRect/>
          </a:stretch>
        </p:blipFill>
        <p:spPr>
          <a:xfrm>
            <a:off x="0" y="0"/>
            <a:ext cx="9144001" cy="514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66" name="Google Shape;166;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28"/>
          <p:cNvPicPr preferRelativeResize="0"/>
          <p:nvPr/>
        </p:nvPicPr>
        <p:blipFill>
          <a:blip r:embed="rId3">
            <a:alphaModFix/>
          </a:blip>
          <a:stretch>
            <a:fillRect/>
          </a:stretch>
        </p:blipFill>
        <p:spPr>
          <a:xfrm>
            <a:off x="0" y="107150"/>
            <a:ext cx="9143999" cy="4756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457200" rtl="0" algn="ctr">
              <a:lnSpc>
                <a:spcPct val="115000"/>
              </a:lnSpc>
              <a:spcBef>
                <a:spcPts val="0"/>
              </a:spcBef>
              <a:spcAft>
                <a:spcPts val="1200"/>
              </a:spcAft>
              <a:buNone/>
            </a:pPr>
            <a:r>
              <a:rPr b="1" lang="en" sz="2100"/>
              <a:t>Create DC from BOM and Dispatch against BOM</a:t>
            </a:r>
            <a:endParaRPr b="1" sz="3600"/>
          </a:p>
        </p:txBody>
      </p:sp>
      <p:sp>
        <p:nvSpPr>
          <p:cNvPr id="173" name="Google Shape;173;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Create DC - If a DC already exists for the job then it will show the buttons - Create DC from BOM and Dispatch against BOM </a:t>
            </a:r>
            <a:endParaRPr>
              <a:solidFill>
                <a:schemeClr val="dk2"/>
              </a:solidFill>
            </a:endParaRPr>
          </a:p>
          <a:p>
            <a:pPr indent="0" lvl="0" marL="0" rtl="0" algn="l">
              <a:spcBef>
                <a:spcPts val="1200"/>
              </a:spcBef>
              <a:spcAft>
                <a:spcPts val="0"/>
              </a:spcAft>
              <a:buNone/>
            </a:pPr>
            <a:r>
              <a:rPr lang="en">
                <a:solidFill>
                  <a:schemeClr val="dk2"/>
                </a:solidFill>
              </a:rPr>
              <a:t>Dispatch Against BOM option is provided - includes table - Product Name, Stage, Required Quantity, Dispatch Quantity </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79" name="Google Shape;179;p3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30"/>
          <p:cNvPicPr preferRelativeResize="0"/>
          <p:nvPr/>
        </p:nvPicPr>
        <p:blipFill>
          <a:blip r:embed="rId3">
            <a:alphaModFix/>
          </a:blip>
          <a:stretch>
            <a:fillRect/>
          </a:stretch>
        </p:blipFill>
        <p:spPr>
          <a:xfrm>
            <a:off x="0" y="0"/>
            <a:ext cx="9144001" cy="51434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86" name="Google Shape;186;p3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7" name="Google Shape;187;p31"/>
          <p:cNvPicPr preferRelativeResize="0"/>
          <p:nvPr/>
        </p:nvPicPr>
        <p:blipFill>
          <a:blip r:embed="rId3">
            <a:alphaModFix/>
          </a:blip>
          <a:stretch>
            <a:fillRect/>
          </a:stretch>
        </p:blipFill>
        <p:spPr>
          <a:xfrm>
            <a:off x="0" y="0"/>
            <a:ext cx="9143999"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93" name="Google Shape;193;p3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4" name="Google Shape;194;p32"/>
          <p:cNvPicPr preferRelativeResize="0"/>
          <p:nvPr/>
        </p:nvPicPr>
        <p:blipFill>
          <a:blip r:embed="rId3">
            <a:alphaModFix/>
          </a:blip>
          <a:stretch>
            <a:fillRect/>
          </a:stretch>
        </p:blipFill>
        <p:spPr>
          <a:xfrm>
            <a:off x="0" y="147350"/>
            <a:ext cx="9144001" cy="49961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200" name="Google Shape;200;p3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1" name="Google Shape;201;p33"/>
          <p:cNvPicPr preferRelativeResize="0"/>
          <p:nvPr/>
        </p:nvPicPr>
        <p:blipFill>
          <a:blip r:embed="rId3">
            <a:alphaModFix/>
          </a:blip>
          <a:stretch>
            <a:fillRect/>
          </a:stretch>
        </p:blipFill>
        <p:spPr>
          <a:xfrm>
            <a:off x="0" y="0"/>
            <a:ext cx="9144000" cy="48868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ph type="title"/>
          </p:nvPr>
        </p:nvSpPr>
        <p:spPr>
          <a:xfrm>
            <a:off x="460950" y="419875"/>
            <a:ext cx="8222100" cy="1010400"/>
          </a:xfrm>
          <a:prstGeom prst="rect">
            <a:avLst/>
          </a:prstGeom>
        </p:spPr>
        <p:txBody>
          <a:bodyPr anchorCtr="0" anchor="b" bIns="91425" lIns="91425" spcFirstLastPara="1" rIns="91425" wrap="square" tIns="91425">
            <a:normAutofit/>
          </a:bodyPr>
          <a:lstStyle/>
          <a:p>
            <a:pPr indent="0" lvl="0" marL="457200" rtl="0" algn="ctr">
              <a:lnSpc>
                <a:spcPct val="115000"/>
              </a:lnSpc>
              <a:spcBef>
                <a:spcPts val="0"/>
              </a:spcBef>
              <a:spcAft>
                <a:spcPts val="0"/>
              </a:spcAft>
              <a:buNone/>
            </a:pPr>
            <a:r>
              <a:rPr b="1" lang="en" sz="2033"/>
              <a:t>Monthly date range filter in Monthly Attendance Report </a:t>
            </a:r>
            <a:endParaRPr b="1" sz="2033"/>
          </a:p>
          <a:p>
            <a:pPr indent="0" lvl="0" marL="0" rtl="0" algn="l">
              <a:spcBef>
                <a:spcPts val="1200"/>
              </a:spcBef>
              <a:spcAft>
                <a:spcPts val="0"/>
              </a:spcAft>
              <a:buNone/>
            </a:pPr>
            <a:r>
              <a:t/>
            </a:r>
            <a:endParaRPr sz="1700"/>
          </a:p>
        </p:txBody>
      </p:sp>
      <p:sp>
        <p:nvSpPr>
          <p:cNvPr id="207" name="Google Shape;207;p3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8" name="Google Shape;208;p34"/>
          <p:cNvPicPr preferRelativeResize="0"/>
          <p:nvPr/>
        </p:nvPicPr>
        <p:blipFill>
          <a:blip r:embed="rId3">
            <a:alphaModFix/>
          </a:blip>
          <a:stretch>
            <a:fillRect/>
          </a:stretch>
        </p:blipFill>
        <p:spPr>
          <a:xfrm>
            <a:off x="0" y="1167775"/>
            <a:ext cx="9143999" cy="41331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471900" y="118100"/>
            <a:ext cx="8222100" cy="1388400"/>
          </a:xfrm>
          <a:prstGeom prst="rect">
            <a:avLst/>
          </a:prstGeom>
        </p:spPr>
        <p:txBody>
          <a:bodyPr anchorCtr="0" anchor="b" bIns="91425" lIns="91425" spcFirstLastPara="1" rIns="91425" wrap="square" tIns="91425">
            <a:normAutofit/>
          </a:bodyPr>
          <a:lstStyle/>
          <a:p>
            <a:pPr indent="0" lvl="0" marL="457200" rtl="0" algn="l">
              <a:spcBef>
                <a:spcPts val="0"/>
              </a:spcBef>
              <a:spcAft>
                <a:spcPts val="0"/>
              </a:spcAft>
              <a:buNone/>
            </a:pPr>
            <a:r>
              <a:rPr b="1" lang="en" sz="2033"/>
              <a:t>In Application Mark In / Mark Out Functionality -Geo-restriction Rule  </a:t>
            </a:r>
            <a:endParaRPr b="1" sz="2033"/>
          </a:p>
          <a:p>
            <a:pPr indent="0" lvl="0" marL="0" rtl="0" algn="l">
              <a:spcBef>
                <a:spcPts val="1000"/>
              </a:spcBef>
              <a:spcAft>
                <a:spcPts val="0"/>
              </a:spcAft>
              <a:buNone/>
            </a:pPr>
            <a:r>
              <a:t/>
            </a:r>
            <a:endParaRPr b="1" sz="1700"/>
          </a:p>
        </p:txBody>
      </p:sp>
      <p:sp>
        <p:nvSpPr>
          <p:cNvPr id="214" name="Google Shape;214;p3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Mark In/Mark Out actions should be allowed only if the user is physically at the job site location (based on GPS).</a:t>
            </a:r>
            <a:endParaRPr>
              <a:solidFill>
                <a:schemeClr val="dk2"/>
              </a:solidFill>
            </a:endParaRPr>
          </a:p>
          <a:p>
            <a:pPr indent="0" lvl="0" marL="0" rtl="0" algn="l">
              <a:spcBef>
                <a:spcPts val="1200"/>
              </a:spcBef>
              <a:spcAft>
                <a:spcPts val="1200"/>
              </a:spcAft>
              <a:buNone/>
            </a:pPr>
            <a:r>
              <a:rPr lang="en">
                <a:solidFill>
                  <a:schemeClr val="dk2"/>
                </a:solidFill>
              </a:rPr>
              <a:t>Prevent marking in/out from any other (non-authorized) location</a:t>
            </a:r>
            <a:endParaRPr>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6"/>
          <p:cNvSpPr txBox="1"/>
          <p:nvPr>
            <p:ph type="title"/>
          </p:nvPr>
        </p:nvSpPr>
        <p:spPr>
          <a:xfrm>
            <a:off x="471900" y="288675"/>
            <a:ext cx="8222100" cy="1217700"/>
          </a:xfrm>
          <a:prstGeom prst="rect">
            <a:avLst/>
          </a:prstGeom>
        </p:spPr>
        <p:txBody>
          <a:bodyPr anchorCtr="0" anchor="b" bIns="91425" lIns="91425" spcFirstLastPara="1" rIns="91425" wrap="square" tIns="91425">
            <a:normAutofit/>
          </a:bodyPr>
          <a:lstStyle/>
          <a:p>
            <a:pPr indent="0" lvl="0" marL="457200" rtl="0" algn="ctr">
              <a:lnSpc>
                <a:spcPct val="115000"/>
              </a:lnSpc>
              <a:spcBef>
                <a:spcPts val="0"/>
              </a:spcBef>
              <a:spcAft>
                <a:spcPts val="0"/>
              </a:spcAft>
              <a:buNone/>
            </a:pPr>
            <a:r>
              <a:rPr b="1" lang="en" sz="2255"/>
              <a:t>Rename of Multiple Fields</a:t>
            </a:r>
            <a:endParaRPr b="1" sz="2255"/>
          </a:p>
          <a:p>
            <a:pPr indent="0" lvl="0" marL="0" rtl="0" algn="l">
              <a:spcBef>
                <a:spcPts val="1200"/>
              </a:spcBef>
              <a:spcAft>
                <a:spcPts val="0"/>
              </a:spcAft>
              <a:buNone/>
            </a:pPr>
            <a:r>
              <a:t/>
            </a:r>
            <a:endParaRPr sz="1700"/>
          </a:p>
        </p:txBody>
      </p:sp>
      <p:sp>
        <p:nvSpPr>
          <p:cNvPr id="220" name="Google Shape;220;p36"/>
          <p:cNvSpPr txBox="1"/>
          <p:nvPr>
            <p:ph idx="1" type="body"/>
          </p:nvPr>
        </p:nvSpPr>
        <p:spPr>
          <a:xfrm>
            <a:off x="0" y="1718875"/>
            <a:ext cx="9079800" cy="3424500"/>
          </a:xfrm>
          <a:prstGeom prst="rect">
            <a:avLst/>
          </a:prstGeom>
        </p:spPr>
        <p:txBody>
          <a:bodyPr anchorCtr="0" anchor="t" bIns="91425" lIns="91425" spcFirstLastPara="1" rIns="91425" wrap="square" tIns="91425">
            <a:normAutofit fontScale="25000" lnSpcReduction="20000"/>
          </a:bodyPr>
          <a:lstStyle/>
          <a:p>
            <a:pPr indent="-336673" lvl="0" marL="457200" rtl="0" algn="l">
              <a:spcBef>
                <a:spcPts val="0"/>
              </a:spcBef>
              <a:spcAft>
                <a:spcPts val="0"/>
              </a:spcAft>
              <a:buClr>
                <a:schemeClr val="dk2"/>
              </a:buClr>
              <a:buSzPct val="100000"/>
              <a:buAutoNum type="arabicParenR"/>
            </a:pPr>
            <a:r>
              <a:rPr lang="en" sz="6807">
                <a:solidFill>
                  <a:schemeClr val="dk2"/>
                </a:solidFill>
              </a:rPr>
              <a:t>In Repair Order Module - i) "Dis" is renamed as "Disc", ii) Added % symbol to discount field. iii) Validation added to discount 0- 100%</a:t>
            </a:r>
            <a:br>
              <a:rPr lang="en" sz="6807">
                <a:solidFill>
                  <a:schemeClr val="dk2"/>
                </a:solidFill>
              </a:rPr>
            </a:br>
            <a:br>
              <a:rPr lang="en" sz="6807">
                <a:solidFill>
                  <a:schemeClr val="dk2"/>
                </a:solidFill>
              </a:rPr>
            </a:br>
            <a:r>
              <a:rPr lang="en" sz="6807">
                <a:solidFill>
                  <a:schemeClr val="dk2"/>
                </a:solidFill>
              </a:rPr>
              <a:t>Jobs Filter UI:</a:t>
            </a:r>
            <a:endParaRPr sz="6807">
              <a:solidFill>
                <a:schemeClr val="dk2"/>
              </a:solidFill>
            </a:endParaRPr>
          </a:p>
          <a:p>
            <a:pPr indent="-336673" lvl="0" marL="457200" rtl="0" algn="l">
              <a:spcBef>
                <a:spcPts val="0"/>
              </a:spcBef>
              <a:spcAft>
                <a:spcPts val="0"/>
              </a:spcAft>
              <a:buClr>
                <a:schemeClr val="dk2"/>
              </a:buClr>
              <a:buSzPct val="100000"/>
              <a:buAutoNum type="arabicParenR"/>
            </a:pPr>
            <a:r>
              <a:rPr lang="en" sz="6807">
                <a:solidFill>
                  <a:schemeClr val="dk2"/>
                </a:solidFill>
              </a:rPr>
              <a:t>Change label “jobs” to “Jobs” (capitalize first letter) in the Jobs Filter dropdown to maintain consistency.</a:t>
            </a:r>
            <a:br>
              <a:rPr lang="en" sz="6807">
                <a:solidFill>
                  <a:schemeClr val="dk2"/>
                </a:solidFill>
              </a:rPr>
            </a:br>
            <a:endParaRPr sz="6807">
              <a:solidFill>
                <a:schemeClr val="dk2"/>
              </a:solidFill>
            </a:endParaRPr>
          </a:p>
          <a:p>
            <a:pPr indent="-336673" lvl="0" marL="457200" rtl="0" algn="l">
              <a:spcBef>
                <a:spcPts val="0"/>
              </a:spcBef>
              <a:spcAft>
                <a:spcPts val="0"/>
              </a:spcAft>
              <a:buClr>
                <a:schemeClr val="dk2"/>
              </a:buClr>
              <a:buSzPct val="100000"/>
              <a:buAutoNum type="arabicParenR"/>
            </a:pPr>
            <a:r>
              <a:rPr lang="en" sz="6807">
                <a:solidFill>
                  <a:schemeClr val="dk2"/>
                </a:solidFill>
              </a:rPr>
              <a:t>Renamed “PO/GRN” tab as “Material management” in app as it includes PO, GRN, DC, and Return. Return tab will have create return order button from which we can create return order add product, warehouse, and return quantity - decimal pointer support </a:t>
            </a:r>
            <a:br>
              <a:rPr lang="en" sz="6807">
                <a:solidFill>
                  <a:schemeClr val="dk2"/>
                </a:solidFill>
              </a:rPr>
            </a:br>
            <a:endParaRPr sz="6807">
              <a:solidFill>
                <a:schemeClr val="dk2"/>
              </a:solidFill>
            </a:endParaRPr>
          </a:p>
          <a:p>
            <a:pPr indent="-336673" lvl="0" marL="457200" rtl="0" algn="l">
              <a:spcBef>
                <a:spcPts val="0"/>
              </a:spcBef>
              <a:spcAft>
                <a:spcPts val="0"/>
              </a:spcAft>
              <a:buClr>
                <a:schemeClr val="dk2"/>
              </a:buClr>
              <a:buSzPct val="100000"/>
              <a:buAutoNum type="arabicParenR"/>
            </a:pPr>
            <a:r>
              <a:rPr lang="en" sz="6807">
                <a:solidFill>
                  <a:schemeClr val="dk2"/>
                </a:solidFill>
              </a:rPr>
              <a:t>From service slot tab removed "Create PM" button and In Pm sale "Create PM" Button rename as " Create PM Quotation.</a:t>
            </a:r>
            <a:endParaRPr sz="6807">
              <a:solidFill>
                <a:schemeClr val="dk2"/>
              </a:solidFil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471900" y="288675"/>
            <a:ext cx="8222100" cy="1062900"/>
          </a:xfrm>
          <a:prstGeom prst="rect">
            <a:avLst/>
          </a:prstGeom>
        </p:spPr>
        <p:txBody>
          <a:bodyPr anchorCtr="0" anchor="b" bIns="91425" lIns="91425" spcFirstLastPara="1" rIns="91425" wrap="square" tIns="91425">
            <a:normAutofit/>
          </a:bodyPr>
          <a:lstStyle/>
          <a:p>
            <a:pPr indent="0" lvl="0" marL="0" rtl="0" algn="ctr">
              <a:spcBef>
                <a:spcPts val="0"/>
              </a:spcBef>
              <a:spcAft>
                <a:spcPts val="1000"/>
              </a:spcAft>
              <a:buNone/>
            </a:pPr>
            <a:r>
              <a:rPr b="1" lang="en" sz="2255"/>
              <a:t>Provided image support for metafield </a:t>
            </a:r>
            <a:endParaRPr b="1" sz="3755"/>
          </a:p>
        </p:txBody>
      </p:sp>
      <p:sp>
        <p:nvSpPr>
          <p:cNvPr id="226" name="Google Shape;226;p37"/>
          <p:cNvSpPr txBox="1"/>
          <p:nvPr>
            <p:ph idx="1" type="body"/>
          </p:nvPr>
        </p:nvSpPr>
        <p:spPr>
          <a:xfrm>
            <a:off x="104975" y="1718875"/>
            <a:ext cx="8974800" cy="328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solidFill>
                  <a:schemeClr val="dk2"/>
                </a:solidFill>
              </a:rPr>
              <a:t>Provided image support for metafield - when metafield is added for modules - </a:t>
            </a:r>
            <a:endParaRPr>
              <a:solidFill>
                <a:schemeClr val="dk2"/>
              </a:solidFill>
            </a:endParaRPr>
          </a:p>
          <a:p>
            <a:pPr indent="0" lvl="0" marL="0" rtl="0" algn="l">
              <a:spcBef>
                <a:spcPts val="1200"/>
              </a:spcBef>
              <a:spcAft>
                <a:spcPts val="0"/>
              </a:spcAft>
              <a:buNone/>
            </a:pPr>
            <a:r>
              <a:rPr lang="en">
                <a:solidFill>
                  <a:schemeClr val="dk2"/>
                </a:solidFill>
              </a:rPr>
              <a:t>Pdf keys will be automatically generated in </a:t>
            </a:r>
            <a:r>
              <a:rPr lang="en">
                <a:solidFill>
                  <a:schemeClr val="dk2"/>
                </a:solidFill>
              </a:rPr>
              <a:t>both</a:t>
            </a:r>
            <a:r>
              <a:rPr lang="en">
                <a:solidFill>
                  <a:schemeClr val="dk2"/>
                </a:solidFill>
              </a:rPr>
              <a:t> extension, doc and also in html and when pasted on pdf metafield images will be shown in pdf </a:t>
            </a:r>
            <a:endParaRPr>
              <a:solidFill>
                <a:schemeClr val="dk2"/>
              </a:solidFill>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471900" y="262425"/>
            <a:ext cx="8222100" cy="1390800"/>
          </a:xfrm>
          <a:prstGeom prst="rect">
            <a:avLst/>
          </a:prstGeom>
        </p:spPr>
        <p:txBody>
          <a:bodyPr anchorCtr="0" anchor="b" bIns="91425" lIns="91425" spcFirstLastPara="1" rIns="91425" wrap="square" tIns="91425">
            <a:normAutofit/>
          </a:bodyPr>
          <a:lstStyle/>
          <a:p>
            <a:pPr indent="0" lvl="0" marL="457200" rtl="0" algn="ctr">
              <a:spcBef>
                <a:spcPts val="0"/>
              </a:spcBef>
              <a:spcAft>
                <a:spcPts val="0"/>
              </a:spcAft>
              <a:buNone/>
            </a:pPr>
            <a:r>
              <a:rPr b="1" lang="en" sz="2355"/>
              <a:t>GSTIN Changes And </a:t>
            </a:r>
            <a:r>
              <a:rPr b="1" lang="en" sz="2422"/>
              <a:t>City Dropdown Changes</a:t>
            </a:r>
            <a:endParaRPr b="1" sz="3922"/>
          </a:p>
          <a:p>
            <a:pPr indent="0" lvl="0" marL="457200" rtl="0" algn="ctr">
              <a:spcBef>
                <a:spcPts val="1000"/>
              </a:spcBef>
              <a:spcAft>
                <a:spcPts val="0"/>
              </a:spcAft>
              <a:buNone/>
            </a:pPr>
            <a:r>
              <a:t/>
            </a:r>
            <a:endParaRPr b="1" sz="2133"/>
          </a:p>
          <a:p>
            <a:pPr indent="0" lvl="0" marL="0" rtl="0" algn="l">
              <a:spcBef>
                <a:spcPts val="1000"/>
              </a:spcBef>
              <a:spcAft>
                <a:spcPts val="0"/>
              </a:spcAft>
              <a:buNone/>
            </a:pPr>
            <a:r>
              <a:t/>
            </a:r>
            <a:endParaRPr sz="1700"/>
          </a:p>
        </p:txBody>
      </p:sp>
      <p:sp>
        <p:nvSpPr>
          <p:cNvPr id="232" name="Google Shape;232;p38"/>
          <p:cNvSpPr txBox="1"/>
          <p:nvPr>
            <p:ph idx="1" type="body"/>
          </p:nvPr>
        </p:nvSpPr>
        <p:spPr>
          <a:xfrm>
            <a:off x="0" y="1771350"/>
            <a:ext cx="9144000" cy="3188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sz="2164">
                <a:solidFill>
                  <a:schemeClr val="dk2"/>
                </a:solidFill>
              </a:rPr>
              <a:t>GSTIN changes - GSTIn will be displayed in both site and firm master - also can be added directly from app also and</a:t>
            </a:r>
            <a:endParaRPr sz="2164">
              <a:solidFill>
                <a:schemeClr val="dk2"/>
              </a:solidFill>
            </a:endParaRPr>
          </a:p>
          <a:p>
            <a:pPr indent="0" lvl="0" marL="0" rtl="0" algn="l">
              <a:spcBef>
                <a:spcPts val="1200"/>
              </a:spcBef>
              <a:spcAft>
                <a:spcPts val="0"/>
              </a:spcAft>
              <a:buNone/>
            </a:pPr>
            <a:r>
              <a:rPr lang="en" sz="2164">
                <a:solidFill>
                  <a:schemeClr val="dk2"/>
                </a:solidFill>
              </a:rPr>
              <a:t>City can be </a:t>
            </a:r>
            <a:r>
              <a:rPr lang="en" sz="2164">
                <a:solidFill>
                  <a:schemeClr val="dk2"/>
                </a:solidFill>
              </a:rPr>
              <a:t>directly</a:t>
            </a:r>
            <a:r>
              <a:rPr lang="en" sz="2164">
                <a:solidFill>
                  <a:schemeClr val="dk2"/>
                </a:solidFill>
              </a:rPr>
              <a:t> fetched from site location on map and that particular city is present in admin panel will automatically get fetched directly.</a:t>
            </a:r>
            <a:br>
              <a:rPr lang="en" sz="2164">
                <a:solidFill>
                  <a:schemeClr val="dk2"/>
                </a:solidFill>
              </a:rPr>
            </a:br>
            <a:br>
              <a:rPr lang="en" sz="2164">
                <a:solidFill>
                  <a:schemeClr val="dk2"/>
                </a:solidFill>
              </a:rPr>
            </a:br>
            <a:r>
              <a:rPr lang="en" sz="2164">
                <a:solidFill>
                  <a:schemeClr val="dk2"/>
                </a:solidFill>
              </a:rPr>
              <a:t>Added GSTIN for both site and Firm master and if added in PDF that support is also provided and site GSTIN will be prevailed in all cases. </a:t>
            </a:r>
            <a:endParaRPr sz="2164">
              <a:solidFill>
                <a:schemeClr val="dk2"/>
              </a:solidFill>
            </a:endParaRPr>
          </a:p>
          <a:p>
            <a:pPr indent="0" lvl="0" marL="0" rtl="0" algn="l">
              <a:spcBef>
                <a:spcPts val="1200"/>
              </a:spcBef>
              <a:spcAft>
                <a:spcPts val="0"/>
              </a:spcAft>
              <a:buNone/>
            </a:pPr>
            <a:r>
              <a:t/>
            </a:r>
            <a:endParaRPr sz="2164">
              <a:solidFill>
                <a:schemeClr val="dk2"/>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471900" y="275550"/>
            <a:ext cx="8222100" cy="1089000"/>
          </a:xfrm>
          <a:prstGeom prst="rect">
            <a:avLst/>
          </a:prstGeom>
        </p:spPr>
        <p:txBody>
          <a:bodyPr anchorCtr="0" anchor="b" bIns="91425" lIns="91425" spcFirstLastPara="1" rIns="91425" wrap="square" tIns="91425">
            <a:normAutofit fontScale="90000"/>
          </a:bodyPr>
          <a:lstStyle/>
          <a:p>
            <a:pPr indent="0" lvl="0" marL="457200" rtl="0" algn="ctr">
              <a:spcBef>
                <a:spcPts val="0"/>
              </a:spcBef>
              <a:spcAft>
                <a:spcPts val="0"/>
              </a:spcAft>
              <a:buNone/>
            </a:pPr>
            <a:r>
              <a:rPr b="1" lang="en" sz="2355"/>
              <a:t>GSTIN Changes And </a:t>
            </a:r>
            <a:r>
              <a:rPr b="1" lang="en" sz="2422"/>
              <a:t>City Dropdown Changes</a:t>
            </a:r>
            <a:endParaRPr b="1" sz="3922"/>
          </a:p>
          <a:p>
            <a:pPr indent="0" lvl="0" marL="457200" rtl="0" algn="ctr">
              <a:spcBef>
                <a:spcPts val="1000"/>
              </a:spcBef>
              <a:spcAft>
                <a:spcPts val="1000"/>
              </a:spcAft>
              <a:buNone/>
            </a:pPr>
            <a:r>
              <a:t/>
            </a:r>
            <a:endParaRPr b="1" sz="3700"/>
          </a:p>
        </p:txBody>
      </p:sp>
      <p:sp>
        <p:nvSpPr>
          <p:cNvPr id="238" name="Google Shape;238;p3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9" name="Google Shape;239;p39"/>
          <p:cNvPicPr preferRelativeResize="0"/>
          <p:nvPr/>
        </p:nvPicPr>
        <p:blipFill>
          <a:blip r:embed="rId3">
            <a:alphaModFix/>
          </a:blip>
          <a:stretch>
            <a:fillRect/>
          </a:stretch>
        </p:blipFill>
        <p:spPr>
          <a:xfrm>
            <a:off x="0" y="1049700"/>
            <a:ext cx="9144001" cy="4093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0"/>
          <p:cNvSpPr txBox="1"/>
          <p:nvPr>
            <p:ph type="title"/>
          </p:nvPr>
        </p:nvSpPr>
        <p:spPr>
          <a:xfrm>
            <a:off x="471900" y="91850"/>
            <a:ext cx="8222100" cy="866100"/>
          </a:xfrm>
          <a:prstGeom prst="rect">
            <a:avLst/>
          </a:prstGeom>
        </p:spPr>
        <p:txBody>
          <a:bodyPr anchorCtr="0" anchor="b" bIns="91425" lIns="91425" spcFirstLastPara="1" rIns="91425" wrap="square" tIns="91425">
            <a:normAutofit/>
          </a:bodyPr>
          <a:lstStyle/>
          <a:p>
            <a:pPr indent="0" lvl="0" marL="457200" rtl="0" algn="ctr">
              <a:spcBef>
                <a:spcPts val="0"/>
              </a:spcBef>
              <a:spcAft>
                <a:spcPts val="1000"/>
              </a:spcAft>
              <a:buNone/>
            </a:pPr>
            <a:r>
              <a:rPr b="1" lang="en" sz="2355"/>
              <a:t>GSTIN Changes And </a:t>
            </a:r>
            <a:r>
              <a:rPr b="1" lang="en" sz="2422"/>
              <a:t>City Dropdown Changes</a:t>
            </a:r>
            <a:endParaRPr/>
          </a:p>
        </p:txBody>
      </p:sp>
      <p:sp>
        <p:nvSpPr>
          <p:cNvPr id="245" name="Google Shape;245;p4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6" name="Google Shape;246;p40"/>
          <p:cNvPicPr preferRelativeResize="0"/>
          <p:nvPr/>
        </p:nvPicPr>
        <p:blipFill>
          <a:blip r:embed="rId3">
            <a:alphaModFix/>
          </a:blip>
          <a:stretch>
            <a:fillRect/>
          </a:stretch>
        </p:blipFill>
        <p:spPr>
          <a:xfrm>
            <a:off x="0" y="1403975"/>
            <a:ext cx="9144001" cy="37395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1"/>
          <p:cNvSpPr txBox="1"/>
          <p:nvPr>
            <p:ph type="title"/>
          </p:nvPr>
        </p:nvSpPr>
        <p:spPr>
          <a:xfrm>
            <a:off x="471900" y="118100"/>
            <a:ext cx="8222100" cy="918600"/>
          </a:xfrm>
          <a:prstGeom prst="rect">
            <a:avLst/>
          </a:prstGeom>
        </p:spPr>
        <p:txBody>
          <a:bodyPr anchorCtr="0" anchor="b" bIns="91425" lIns="91425" spcFirstLastPara="1" rIns="91425" wrap="square" tIns="91425">
            <a:normAutofit/>
          </a:bodyPr>
          <a:lstStyle/>
          <a:p>
            <a:pPr indent="0" lvl="0" marL="0" rtl="0" algn="l">
              <a:spcBef>
                <a:spcPts val="0"/>
              </a:spcBef>
              <a:spcAft>
                <a:spcPts val="1000"/>
              </a:spcAft>
              <a:buNone/>
            </a:pPr>
            <a:r>
              <a:t/>
            </a:r>
            <a:endParaRPr/>
          </a:p>
        </p:txBody>
      </p:sp>
      <p:sp>
        <p:nvSpPr>
          <p:cNvPr id="252" name="Google Shape;252;p41"/>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3" name="Google Shape;253;p41"/>
          <p:cNvPicPr preferRelativeResize="0"/>
          <p:nvPr/>
        </p:nvPicPr>
        <p:blipFill>
          <a:blip r:embed="rId3">
            <a:alphaModFix/>
          </a:blip>
          <a:stretch>
            <a:fillRect/>
          </a:stretch>
        </p:blipFill>
        <p:spPr>
          <a:xfrm>
            <a:off x="577325" y="38100"/>
            <a:ext cx="2978525" cy="5143500"/>
          </a:xfrm>
          <a:prstGeom prst="rect">
            <a:avLst/>
          </a:prstGeom>
          <a:noFill/>
          <a:ln>
            <a:noFill/>
          </a:ln>
        </p:spPr>
      </p:pic>
      <p:pic>
        <p:nvPicPr>
          <p:cNvPr id="254" name="Google Shape;254;p41"/>
          <p:cNvPicPr preferRelativeResize="0"/>
          <p:nvPr/>
        </p:nvPicPr>
        <p:blipFill>
          <a:blip r:embed="rId4">
            <a:alphaModFix/>
          </a:blip>
          <a:stretch>
            <a:fillRect/>
          </a:stretch>
        </p:blipFill>
        <p:spPr>
          <a:xfrm>
            <a:off x="4434950" y="38100"/>
            <a:ext cx="3264375" cy="5067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